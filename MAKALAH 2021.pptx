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GIT_WIndows\Kaizen2021\Data-Data\Laporan%20KPI%20GR%202020%20Auto2000%20Banyuwangi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464-47C6-9205-11CE060EE5C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C464-47C6-9205-11CE060EE5C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C464-47C6-9205-11CE060EE5C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C464-47C6-9205-11CE060EE5C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C464-47C6-9205-11CE060EE5C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70C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Sheet1!$J$11:$J$15</c:f>
              <c:strCache>
                <c:ptCount val="5"/>
                <c:pt idx="0">
                  <c:v>EM Contribution</c:v>
                </c:pt>
                <c:pt idx="1">
                  <c:v>App Rate</c:v>
                </c:pt>
                <c:pt idx="2">
                  <c:v>Leadtime EM</c:v>
                </c:pt>
                <c:pt idx="3">
                  <c:v>TMO Share</c:v>
                </c:pt>
                <c:pt idx="4">
                  <c:v>Leadtime SBE</c:v>
                </c:pt>
              </c:strCache>
            </c:strRef>
          </c:cat>
          <c:val>
            <c:numRef>
              <c:f>Sheet1!$L$11:$L$15</c:f>
              <c:numCache>
                <c:formatCode>0%</c:formatCode>
                <c:ptCount val="5"/>
                <c:pt idx="0">
                  <c:v>5.8139534883720929E-3</c:v>
                </c:pt>
                <c:pt idx="1">
                  <c:v>0.20348837209302326</c:v>
                </c:pt>
                <c:pt idx="2">
                  <c:v>0.24127906976744184</c:v>
                </c:pt>
                <c:pt idx="3">
                  <c:v>0.27034883720930236</c:v>
                </c:pt>
                <c:pt idx="4">
                  <c:v>0.27906976744186046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464-47C6-9205-11CE060EE5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72186960"/>
        <c:axId val="472181712"/>
      </c:barChart>
      <c:lineChart>
        <c:grouping val="standard"/>
        <c:varyColors val="0"/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Sheet1!$J$11:$J$15</c:f>
              <c:strCache>
                <c:ptCount val="5"/>
                <c:pt idx="0">
                  <c:v>EM Contribution</c:v>
                </c:pt>
                <c:pt idx="1">
                  <c:v>App Rate</c:v>
                </c:pt>
                <c:pt idx="2">
                  <c:v>Leadtime EM</c:v>
                </c:pt>
                <c:pt idx="3">
                  <c:v>TMO Share</c:v>
                </c:pt>
                <c:pt idx="4">
                  <c:v>Leadtime SBE</c:v>
                </c:pt>
              </c:strCache>
            </c:strRef>
          </c:cat>
          <c:val>
            <c:numRef>
              <c:f>Sheet1!$M$11:$M$15</c:f>
              <c:numCache>
                <c:formatCode>0%</c:formatCode>
                <c:ptCount val="5"/>
                <c:pt idx="0">
                  <c:v>0.01</c:v>
                </c:pt>
                <c:pt idx="1">
                  <c:v>0.21348837209302327</c:v>
                </c:pt>
                <c:pt idx="2">
                  <c:v>0.45476744186046514</c:v>
                </c:pt>
                <c:pt idx="3">
                  <c:v>0.7251162790697675</c:v>
                </c:pt>
                <c:pt idx="4">
                  <c:v>1.0041860465116279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464-47C6-9205-11CE060EE5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2257256"/>
        <c:axId val="468765160"/>
      </c:lineChart>
      <c:catAx>
        <c:axId val="472186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2181712"/>
        <c:crosses val="autoZero"/>
        <c:auto val="1"/>
        <c:lblAlgn val="ctr"/>
        <c:lblOffset val="100"/>
        <c:noMultiLvlLbl val="0"/>
      </c:catAx>
      <c:valAx>
        <c:axId val="472181712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2186960"/>
        <c:crosses val="autoZero"/>
        <c:crossBetween val="between"/>
        <c:majorUnit val="0.2"/>
      </c:valAx>
      <c:valAx>
        <c:axId val="468765160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2257256"/>
        <c:crosses val="max"/>
        <c:crossBetween val="between"/>
      </c:valAx>
      <c:catAx>
        <c:axId val="4622572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6876516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83599-71B2-4673-8399-C03586A36A7B}" type="datetimeFigureOut">
              <a:rPr lang="en-ID" smtClean="0"/>
              <a:t>27/11/2020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924E7-3729-40D5-995F-270D5172E8A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50891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924E7-3729-40D5-995F-270D5172E8A0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44832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08848-D1E6-488F-9CAC-4BB12AF86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535FEC-3702-46BC-854E-C605308AF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545CB-84E0-4789-B8A4-A7087D3B2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20BC-8BFB-4C25-88C4-E68B9687E50E}" type="datetimeFigureOut">
              <a:rPr lang="en-ID" smtClean="0"/>
              <a:t>27/11/2020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72AC6-AB1A-43E7-8207-16F812F1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67E4B-CCD5-4DE7-AAD0-BDA69075C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FDD1C-0D75-4375-8A77-77492E68E01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77240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EFDFB-EC3B-4CA6-B9B3-7E619EDD4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5C6A1-D5D9-44AF-8ACB-DA690AF99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44621-83F8-4424-B710-0E61A269D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20BC-8BFB-4C25-88C4-E68B9687E50E}" type="datetimeFigureOut">
              <a:rPr lang="en-ID" smtClean="0"/>
              <a:t>27/11/2020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23BC9-55C0-4CFE-88A1-3D334AD69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55A33-91DD-4B04-B153-6728F4490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FDD1C-0D75-4375-8A77-77492E68E01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83235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E31F4-8C69-41EC-B04B-EFCDD7B00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0C091-3A29-4622-B8D8-D2957DC76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57F12-23AD-435E-A654-5FE18785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20BC-8BFB-4C25-88C4-E68B9687E50E}" type="datetimeFigureOut">
              <a:rPr lang="en-ID" smtClean="0"/>
              <a:t>27/11/2020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C9216-477C-45A5-BA42-33D9A8DD8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7576A-55E7-4DB6-ABF8-A8F4CEF8D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FDD1C-0D75-4375-8A77-77492E68E01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89698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8AF45-D07D-40E1-A5C8-72046E699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F628C-BBAE-42B0-9C7B-BD6739951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9892E-415E-4A26-9F23-30FD3EF46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340F8-EC9D-4953-A3E5-BB9AEE8A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20BC-8BFB-4C25-88C4-E68B9687E50E}" type="datetimeFigureOut">
              <a:rPr lang="en-ID" smtClean="0"/>
              <a:t>27/11/2020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C7BB0-CB05-4C65-9C96-51AB44ACE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8D128-FF9C-4046-98E3-B8F428A1F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FDD1C-0D75-4375-8A77-77492E68E01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653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4319F-6289-43E6-9DCD-587DBD4A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4E324-6215-4AB6-A143-249A06CFE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12BBE-C84C-4136-B242-227064123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25FE9-6842-421D-A03F-FF40C05D5A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09A6C5-CD7E-4870-AF0A-0E0D3DEFAF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B2A2EF-8DF3-418B-8F76-5D2B37F0A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20BC-8BFB-4C25-88C4-E68B9687E50E}" type="datetimeFigureOut">
              <a:rPr lang="en-ID" smtClean="0"/>
              <a:t>27/11/2020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08793D-1A29-4C2C-AE51-24A56503F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6B2860-702D-4A92-9FBB-BA7235F2C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FDD1C-0D75-4375-8A77-77492E68E01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6490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987E9-C87A-40E0-B2FA-ED0705D9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E7BD13-97FA-4948-A5A6-3F196208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20BC-8BFB-4C25-88C4-E68B9687E50E}" type="datetimeFigureOut">
              <a:rPr lang="en-ID" smtClean="0"/>
              <a:t>27/11/2020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D92FB7-F683-4E5E-ABDC-4FF94DA12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B800-4075-486C-AA95-5EF535E16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FDD1C-0D75-4375-8A77-77492E68E01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49338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E40D66-590E-47C5-9E38-EC18CF55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20BC-8BFB-4C25-88C4-E68B9687E50E}" type="datetimeFigureOut">
              <a:rPr lang="en-ID" smtClean="0"/>
              <a:t>27/11/2020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976C39-303F-425C-9936-C78E46FD7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50BD4-EE03-4612-BCBB-4B840585F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FDD1C-0D75-4375-8A77-77492E68E01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3766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E818E-5E72-4C30-9B64-667E9F7E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336E8-8DE1-4404-A50D-31B49CE16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96CB3-9BB9-4A2E-981B-322313DEE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AE4C1-BF4E-46B5-AD1B-55421C21E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20BC-8BFB-4C25-88C4-E68B9687E50E}" type="datetimeFigureOut">
              <a:rPr lang="en-ID" smtClean="0"/>
              <a:t>27/11/2020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0582B-2522-49CE-AAAB-B0FC3FE0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E53B3-721C-40B5-B3DF-B3DE0E19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FDD1C-0D75-4375-8A77-77492E68E01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1001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F102B-4C4B-4BAB-8411-371E3098D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8E2111-5A12-4DF3-8D26-EC9382EED2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EDCE23-0E8C-424C-B006-951DBBD58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39B11-DFE8-48E4-994C-5C3EA1913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20BC-8BFB-4C25-88C4-E68B9687E50E}" type="datetimeFigureOut">
              <a:rPr lang="en-ID" smtClean="0"/>
              <a:t>27/11/2020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56ABC6-D8BE-4F7E-A5B7-33334D8A8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B58EEA-5827-463E-AF4C-64B6E3E68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FDD1C-0D75-4375-8A77-77492E68E01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8137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53828-9990-4ADE-BFF2-2899F7701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B3CE78-4526-46FF-86AD-93C2DCA67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03E91-0604-45B6-B614-7417C2068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20BC-8BFB-4C25-88C4-E68B9687E50E}" type="datetimeFigureOut">
              <a:rPr lang="en-ID" smtClean="0"/>
              <a:t>27/11/2020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7CA4D-5188-4102-A042-48425519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6E1CA-BDF9-4D7F-9AD4-6D4BB6AD3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FDD1C-0D75-4375-8A77-77492E68E01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79884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178A05-0B77-411B-89E4-96F94763A8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67D346-7B0E-4739-B82A-6F8BEA05C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8E647-8C08-49FB-BA2A-478CA7C7A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20BC-8BFB-4C25-88C4-E68B9687E50E}" type="datetimeFigureOut">
              <a:rPr lang="en-ID" smtClean="0"/>
              <a:t>27/11/2020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7A020-9291-43B0-886C-4F1D954D3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26DE8-05B3-4E0B-A9B1-826E7A020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FDD1C-0D75-4375-8A77-77492E68E01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7383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B23A47-5FFB-4F58-873D-44FF43EC2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ECAF6-4226-4E87-A3F2-6C927EB85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5C1C0-607B-4BD1-B710-F64E8FC827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620BC-8BFB-4C25-88C4-E68B9687E50E}" type="datetimeFigureOut">
              <a:rPr lang="en-ID" smtClean="0"/>
              <a:t>27/11/2020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7268C-FF64-4CD3-87E1-5B0DCCE0F9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1130F-7DA9-4C2B-A60A-DEF661D12B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FDD1C-0D75-4375-8A77-77492E68E01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9321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E252FBF-5D3D-49E9-8564-C2DF83FB5CEE}"/>
              </a:ext>
            </a:extLst>
          </p:cNvPr>
          <p:cNvSpPr txBox="1"/>
          <p:nvPr/>
        </p:nvSpPr>
        <p:spPr>
          <a:xfrm>
            <a:off x="400926" y="2228671"/>
            <a:ext cx="654148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5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hiller" panose="04020404031007020602" pitchFamily="82" charset="0"/>
              </a:rPr>
              <a:t>The </a:t>
            </a:r>
            <a:r>
              <a:rPr lang="en-ID" sz="150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hiller" panose="04020404031007020602" pitchFamily="82" charset="0"/>
              </a:rPr>
              <a:t>Laros</a:t>
            </a:r>
            <a:endParaRPr lang="en-ID" sz="15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Chiller" panose="04020404031007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796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CD7C518-7C12-4073-A9F6-510D788BF36F}"/>
              </a:ext>
            </a:extLst>
          </p:cNvPr>
          <p:cNvGrpSpPr/>
          <p:nvPr/>
        </p:nvGrpSpPr>
        <p:grpSpPr>
          <a:xfrm>
            <a:off x="0" y="62690"/>
            <a:ext cx="10705514" cy="464235"/>
            <a:chOff x="0" y="239152"/>
            <a:chExt cx="11690252" cy="464235"/>
          </a:xfrm>
          <a:gradFill flip="none" rotWithShape="1">
            <a:gsLst>
              <a:gs pos="39000">
                <a:srgbClr val="88686C"/>
              </a:gs>
              <a:gs pos="1000">
                <a:schemeClr val="accent2">
                  <a:lumMod val="75000"/>
                </a:schemeClr>
              </a:gs>
              <a:gs pos="49000">
                <a:schemeClr val="accent1">
                  <a:lumMod val="97000"/>
                  <a:lumOff val="3000"/>
                </a:schemeClr>
              </a:gs>
              <a:gs pos="100000">
                <a:srgbClr val="002060"/>
              </a:gs>
            </a:gsLst>
            <a:path path="circle">
              <a:fillToRect l="100000" t="100000"/>
            </a:path>
            <a:tileRect r="-100000" b="-100000"/>
          </a:gradFill>
        </p:grpSpPr>
        <p:sp>
          <p:nvSpPr>
            <p:cNvPr id="5" name="Arrow: Chevron 4">
              <a:extLst>
                <a:ext uri="{FF2B5EF4-FFF2-40B4-BE49-F238E27FC236}">
                  <a16:creationId xmlns:a16="http://schemas.microsoft.com/office/drawing/2014/main" id="{676FB92D-4115-44FB-A2D9-2552A8EE5A6A}"/>
                </a:ext>
              </a:extLst>
            </p:cNvPr>
            <p:cNvSpPr/>
            <p:nvPr/>
          </p:nvSpPr>
          <p:spPr>
            <a:xfrm flipH="1">
              <a:off x="647114" y="239153"/>
              <a:ext cx="11043138" cy="46423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ID" sz="3600" b="1" dirty="0" err="1">
                  <a:solidFill>
                    <a:schemeClr val="bg1"/>
                  </a:solidFill>
                </a:rPr>
                <a:t>Menentukan</a:t>
              </a:r>
              <a:r>
                <a:rPr lang="en-ID" sz="3600" b="1" dirty="0">
                  <a:solidFill>
                    <a:schemeClr val="bg1"/>
                  </a:solidFill>
                </a:rPr>
                <a:t> </a:t>
              </a:r>
              <a:r>
                <a:rPr lang="en-ID" sz="3600" b="1" dirty="0" err="1">
                  <a:solidFill>
                    <a:schemeClr val="bg1"/>
                  </a:solidFill>
                </a:rPr>
                <a:t>Tema</a:t>
              </a:r>
              <a:endParaRPr lang="en-ID"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Arrow: Pentagon 5">
              <a:extLst>
                <a:ext uri="{FF2B5EF4-FFF2-40B4-BE49-F238E27FC236}">
                  <a16:creationId xmlns:a16="http://schemas.microsoft.com/office/drawing/2014/main" id="{0F2AFB47-5A97-46E5-87F1-A89FA9CD7C27}"/>
                </a:ext>
              </a:extLst>
            </p:cNvPr>
            <p:cNvSpPr/>
            <p:nvPr/>
          </p:nvSpPr>
          <p:spPr>
            <a:xfrm>
              <a:off x="0" y="239152"/>
              <a:ext cx="1350495" cy="464234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ID" sz="3600" b="1">
                <a:solidFill>
                  <a:schemeClr val="bg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8F3F490-9972-4173-B24C-746196E70876}"/>
              </a:ext>
            </a:extLst>
          </p:cNvPr>
          <p:cNvSpPr txBox="1"/>
          <p:nvPr/>
        </p:nvSpPr>
        <p:spPr>
          <a:xfrm>
            <a:off x="53117" y="137879"/>
            <a:ext cx="6042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dirty="0">
                <a:solidFill>
                  <a:schemeClr val="bg1"/>
                </a:solidFill>
              </a:rPr>
              <a:t>Timeline</a:t>
            </a: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23F1D87A-78DA-4BCF-BA5B-E836BF872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385569"/>
              </p:ext>
            </p:extLst>
          </p:nvPr>
        </p:nvGraphicFramePr>
        <p:xfrm>
          <a:off x="53117" y="1167618"/>
          <a:ext cx="2577541" cy="5590095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77541">
                  <a:extLst>
                    <a:ext uri="{9D8B030D-6E8A-4147-A177-3AD203B41FA5}">
                      <a16:colId xmlns:a16="http://schemas.microsoft.com/office/drawing/2014/main" val="1721319269"/>
                    </a:ext>
                  </a:extLst>
                </a:gridCol>
              </a:tblGrid>
              <a:tr h="798585">
                <a:tc>
                  <a:txBody>
                    <a:bodyPr/>
                    <a:lstStyle/>
                    <a:p>
                      <a:r>
                        <a:rPr lang="en-ID" b="1" dirty="0" err="1"/>
                        <a:t>Menentukan</a:t>
                      </a:r>
                      <a:r>
                        <a:rPr lang="en-ID" b="1" dirty="0"/>
                        <a:t> </a:t>
                      </a:r>
                      <a:r>
                        <a:rPr lang="en-ID" b="1" dirty="0" err="1"/>
                        <a:t>Tema</a:t>
                      </a:r>
                      <a:endParaRPr lang="en-ID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474642"/>
                  </a:ext>
                </a:extLst>
              </a:tr>
              <a:tr h="798585">
                <a:tc>
                  <a:txBody>
                    <a:bodyPr/>
                    <a:lstStyle/>
                    <a:p>
                      <a:r>
                        <a:rPr lang="en-ID" b="1" dirty="0" err="1"/>
                        <a:t>Menentukan</a:t>
                      </a:r>
                      <a:r>
                        <a:rPr lang="en-ID" b="1" dirty="0"/>
                        <a:t> Target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33233"/>
                  </a:ext>
                </a:extLst>
              </a:tr>
              <a:tr h="798585">
                <a:tc>
                  <a:txBody>
                    <a:bodyPr/>
                    <a:lstStyle/>
                    <a:p>
                      <a:r>
                        <a:rPr lang="en-ID" b="1" dirty="0"/>
                        <a:t>Analisa </a:t>
                      </a:r>
                      <a:r>
                        <a:rPr lang="en-ID" b="1" dirty="0" err="1"/>
                        <a:t>Masalah</a:t>
                      </a:r>
                      <a:endParaRPr lang="en-ID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3272798"/>
                  </a:ext>
                </a:extLst>
              </a:tr>
              <a:tr h="798585">
                <a:tc>
                  <a:txBody>
                    <a:bodyPr/>
                    <a:lstStyle/>
                    <a:p>
                      <a:r>
                        <a:rPr lang="en-ID" b="1" dirty="0" err="1"/>
                        <a:t>Rencana</a:t>
                      </a:r>
                      <a:r>
                        <a:rPr lang="en-ID" b="1" dirty="0"/>
                        <a:t> Ide </a:t>
                      </a:r>
                      <a:r>
                        <a:rPr lang="en-ID" b="1" dirty="0" err="1"/>
                        <a:t>Perbaikan</a:t>
                      </a:r>
                      <a:endParaRPr lang="en-ID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347278"/>
                  </a:ext>
                </a:extLst>
              </a:tr>
              <a:tr h="798585">
                <a:tc>
                  <a:txBody>
                    <a:bodyPr/>
                    <a:lstStyle/>
                    <a:p>
                      <a:r>
                        <a:rPr lang="en-ID" b="1" dirty="0" err="1"/>
                        <a:t>Implementasi</a:t>
                      </a:r>
                      <a:endParaRPr lang="en-ID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0109613"/>
                  </a:ext>
                </a:extLst>
              </a:tr>
              <a:tr h="798585">
                <a:tc>
                  <a:txBody>
                    <a:bodyPr/>
                    <a:lstStyle/>
                    <a:p>
                      <a:r>
                        <a:rPr lang="en-ID" b="1" dirty="0" err="1"/>
                        <a:t>Evaluasi</a:t>
                      </a:r>
                      <a:r>
                        <a:rPr lang="en-ID" b="1" dirty="0"/>
                        <a:t> Hasil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539174"/>
                  </a:ext>
                </a:extLst>
              </a:tr>
              <a:tr h="798585">
                <a:tc>
                  <a:txBody>
                    <a:bodyPr/>
                    <a:lstStyle/>
                    <a:p>
                      <a:r>
                        <a:rPr lang="en-ID" b="1" dirty="0" err="1"/>
                        <a:t>Tindak</a:t>
                      </a:r>
                      <a:r>
                        <a:rPr lang="en-ID" b="1" dirty="0"/>
                        <a:t> </a:t>
                      </a:r>
                      <a:r>
                        <a:rPr lang="en-ID" b="1" dirty="0" err="1"/>
                        <a:t>lanjut</a:t>
                      </a:r>
                      <a:endParaRPr lang="en-ID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3280921"/>
                  </a:ext>
                </a:extLst>
              </a:tr>
            </a:tbl>
          </a:graphicData>
        </a:graphic>
      </p:graphicFrame>
      <p:graphicFrame>
        <p:nvGraphicFramePr>
          <p:cNvPr id="9" name="Table 11">
            <a:extLst>
              <a:ext uri="{FF2B5EF4-FFF2-40B4-BE49-F238E27FC236}">
                <a16:creationId xmlns:a16="http://schemas.microsoft.com/office/drawing/2014/main" id="{7B299919-2716-4188-AFE4-267B58FD5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932130"/>
              </p:ext>
            </p:extLst>
          </p:nvPr>
        </p:nvGraphicFramePr>
        <p:xfrm>
          <a:off x="2952007" y="599544"/>
          <a:ext cx="9137750" cy="615294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13775">
                  <a:extLst>
                    <a:ext uri="{9D8B030D-6E8A-4147-A177-3AD203B41FA5}">
                      <a16:colId xmlns:a16="http://schemas.microsoft.com/office/drawing/2014/main" val="1637779912"/>
                    </a:ext>
                  </a:extLst>
                </a:gridCol>
                <a:gridCol w="913775">
                  <a:extLst>
                    <a:ext uri="{9D8B030D-6E8A-4147-A177-3AD203B41FA5}">
                      <a16:colId xmlns:a16="http://schemas.microsoft.com/office/drawing/2014/main" val="2998182097"/>
                    </a:ext>
                  </a:extLst>
                </a:gridCol>
                <a:gridCol w="913775">
                  <a:extLst>
                    <a:ext uri="{9D8B030D-6E8A-4147-A177-3AD203B41FA5}">
                      <a16:colId xmlns:a16="http://schemas.microsoft.com/office/drawing/2014/main" val="1813184568"/>
                    </a:ext>
                  </a:extLst>
                </a:gridCol>
                <a:gridCol w="913775">
                  <a:extLst>
                    <a:ext uri="{9D8B030D-6E8A-4147-A177-3AD203B41FA5}">
                      <a16:colId xmlns:a16="http://schemas.microsoft.com/office/drawing/2014/main" val="2435601199"/>
                    </a:ext>
                  </a:extLst>
                </a:gridCol>
                <a:gridCol w="913775">
                  <a:extLst>
                    <a:ext uri="{9D8B030D-6E8A-4147-A177-3AD203B41FA5}">
                      <a16:colId xmlns:a16="http://schemas.microsoft.com/office/drawing/2014/main" val="3967434196"/>
                    </a:ext>
                  </a:extLst>
                </a:gridCol>
                <a:gridCol w="913775">
                  <a:extLst>
                    <a:ext uri="{9D8B030D-6E8A-4147-A177-3AD203B41FA5}">
                      <a16:colId xmlns:a16="http://schemas.microsoft.com/office/drawing/2014/main" val="3316706608"/>
                    </a:ext>
                  </a:extLst>
                </a:gridCol>
                <a:gridCol w="913775">
                  <a:extLst>
                    <a:ext uri="{9D8B030D-6E8A-4147-A177-3AD203B41FA5}">
                      <a16:colId xmlns:a16="http://schemas.microsoft.com/office/drawing/2014/main" val="956415635"/>
                    </a:ext>
                  </a:extLst>
                </a:gridCol>
                <a:gridCol w="913775">
                  <a:extLst>
                    <a:ext uri="{9D8B030D-6E8A-4147-A177-3AD203B41FA5}">
                      <a16:colId xmlns:a16="http://schemas.microsoft.com/office/drawing/2014/main" val="177847842"/>
                    </a:ext>
                  </a:extLst>
                </a:gridCol>
                <a:gridCol w="913775">
                  <a:extLst>
                    <a:ext uri="{9D8B030D-6E8A-4147-A177-3AD203B41FA5}">
                      <a16:colId xmlns:a16="http://schemas.microsoft.com/office/drawing/2014/main" val="4135345539"/>
                    </a:ext>
                  </a:extLst>
                </a:gridCol>
                <a:gridCol w="913775">
                  <a:extLst>
                    <a:ext uri="{9D8B030D-6E8A-4147-A177-3AD203B41FA5}">
                      <a16:colId xmlns:a16="http://schemas.microsoft.com/office/drawing/2014/main" val="4010874171"/>
                    </a:ext>
                  </a:extLst>
                </a:gridCol>
              </a:tblGrid>
              <a:tr h="553042"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Nov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Des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Jan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Feb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Apr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Mei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Jun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Jul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 err="1"/>
                        <a:t>Agu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25943"/>
                  </a:ext>
                </a:extLst>
              </a:tr>
              <a:tr h="417863"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9771527"/>
                  </a:ext>
                </a:extLst>
              </a:tr>
              <a:tr h="389045"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003669"/>
                  </a:ext>
                </a:extLst>
              </a:tr>
              <a:tr h="432272"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28903"/>
                  </a:ext>
                </a:extLst>
              </a:tr>
              <a:tr h="379569"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132712"/>
                  </a:ext>
                </a:extLst>
              </a:tr>
              <a:tr h="403454"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712769"/>
                  </a:ext>
                </a:extLst>
              </a:tr>
              <a:tr h="389045"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9179558"/>
                  </a:ext>
                </a:extLst>
              </a:tr>
              <a:tr h="389188"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7308"/>
                  </a:ext>
                </a:extLst>
              </a:tr>
              <a:tr h="348564"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8192112"/>
                  </a:ext>
                </a:extLst>
              </a:tr>
              <a:tr h="446681"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525394"/>
                  </a:ext>
                </a:extLst>
              </a:tr>
              <a:tr h="374636"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112488"/>
                  </a:ext>
                </a:extLst>
              </a:tr>
              <a:tr h="458843"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5631989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740874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3960238"/>
                  </a:ext>
                </a:extLst>
              </a:tr>
              <a:tr h="239151"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2712493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92AE6B-9658-4C62-9088-2A002CAA3DB8}"/>
              </a:ext>
            </a:extLst>
          </p:cNvPr>
          <p:cNvCxnSpPr>
            <a:cxnSpLocks/>
          </p:cNvCxnSpPr>
          <p:nvPr/>
        </p:nvCxnSpPr>
        <p:spPr>
          <a:xfrm>
            <a:off x="2952007" y="1364566"/>
            <a:ext cx="1820999" cy="0"/>
          </a:xfrm>
          <a:prstGeom prst="straightConnector1">
            <a:avLst/>
          </a:prstGeom>
          <a:ln w="47625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D5A7634-5542-43B9-BBD5-EC93860EEDC3}"/>
              </a:ext>
            </a:extLst>
          </p:cNvPr>
          <p:cNvCxnSpPr>
            <a:cxnSpLocks/>
          </p:cNvCxnSpPr>
          <p:nvPr/>
        </p:nvCxnSpPr>
        <p:spPr>
          <a:xfrm>
            <a:off x="3074558" y="1784252"/>
            <a:ext cx="639313" cy="0"/>
          </a:xfrm>
          <a:prstGeom prst="straightConnector1">
            <a:avLst/>
          </a:prstGeom>
          <a:ln w="635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2ACBC177-4C2F-4E62-875F-0A760CD57681}"/>
              </a:ext>
            </a:extLst>
          </p:cNvPr>
          <p:cNvSpPr/>
          <p:nvPr/>
        </p:nvSpPr>
        <p:spPr>
          <a:xfrm flipH="1">
            <a:off x="10548995" y="62690"/>
            <a:ext cx="1643004" cy="464234"/>
          </a:xfrm>
          <a:prstGeom prst="homePlat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3600" dirty="0"/>
              <a:t>Step 1</a:t>
            </a:r>
          </a:p>
        </p:txBody>
      </p:sp>
    </p:spTree>
    <p:extLst>
      <p:ext uri="{BB962C8B-B14F-4D97-AF65-F5344CB8AC3E}">
        <p14:creationId xmlns:p14="http://schemas.microsoft.com/office/powerpoint/2010/main" val="1686907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625660D-31F6-4849-9446-7590D41F3AA8}"/>
              </a:ext>
            </a:extLst>
          </p:cNvPr>
          <p:cNvGrpSpPr/>
          <p:nvPr/>
        </p:nvGrpSpPr>
        <p:grpSpPr>
          <a:xfrm>
            <a:off x="0" y="62690"/>
            <a:ext cx="10691446" cy="464235"/>
            <a:chOff x="0" y="239152"/>
            <a:chExt cx="11690252" cy="464235"/>
          </a:xfrm>
          <a:gradFill flip="none" rotWithShape="1">
            <a:gsLst>
              <a:gs pos="39000">
                <a:srgbClr val="88686C"/>
              </a:gs>
              <a:gs pos="1000">
                <a:schemeClr val="accent2">
                  <a:lumMod val="75000"/>
                </a:schemeClr>
              </a:gs>
              <a:gs pos="49000">
                <a:schemeClr val="accent1">
                  <a:lumMod val="97000"/>
                  <a:lumOff val="3000"/>
                </a:schemeClr>
              </a:gs>
              <a:gs pos="100000">
                <a:srgbClr val="002060"/>
              </a:gs>
            </a:gsLst>
            <a:path path="circle">
              <a:fillToRect l="100000" t="100000"/>
            </a:path>
            <a:tileRect r="-100000" b="-100000"/>
          </a:gradFill>
        </p:grpSpPr>
        <p:sp>
          <p:nvSpPr>
            <p:cNvPr id="5" name="Arrow: Chevron 4">
              <a:extLst>
                <a:ext uri="{FF2B5EF4-FFF2-40B4-BE49-F238E27FC236}">
                  <a16:creationId xmlns:a16="http://schemas.microsoft.com/office/drawing/2014/main" id="{DC90910B-F674-488F-92DD-1479BDF72AF0}"/>
                </a:ext>
              </a:extLst>
            </p:cNvPr>
            <p:cNvSpPr/>
            <p:nvPr/>
          </p:nvSpPr>
          <p:spPr>
            <a:xfrm flipH="1">
              <a:off x="647114" y="239153"/>
              <a:ext cx="11043138" cy="46423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ID" sz="3600" b="1" dirty="0" err="1">
                  <a:solidFill>
                    <a:schemeClr val="bg1"/>
                  </a:solidFill>
                </a:rPr>
                <a:t>Menentukan</a:t>
              </a:r>
              <a:r>
                <a:rPr lang="en-ID" sz="3600" b="1" dirty="0">
                  <a:solidFill>
                    <a:schemeClr val="bg1"/>
                  </a:solidFill>
                </a:rPr>
                <a:t> </a:t>
              </a:r>
              <a:r>
                <a:rPr lang="en-ID" sz="3600" b="1" dirty="0" err="1">
                  <a:solidFill>
                    <a:schemeClr val="bg1"/>
                  </a:solidFill>
                </a:rPr>
                <a:t>Tema</a:t>
              </a:r>
              <a:endParaRPr lang="en-ID"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Arrow: Pentagon 5">
              <a:extLst>
                <a:ext uri="{FF2B5EF4-FFF2-40B4-BE49-F238E27FC236}">
                  <a16:creationId xmlns:a16="http://schemas.microsoft.com/office/drawing/2014/main" id="{CBD456E6-04FE-4E71-B5B8-635C574E2EA3}"/>
                </a:ext>
              </a:extLst>
            </p:cNvPr>
            <p:cNvSpPr/>
            <p:nvPr/>
          </p:nvSpPr>
          <p:spPr>
            <a:xfrm>
              <a:off x="0" y="239152"/>
              <a:ext cx="1350495" cy="464234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ID" sz="3600" b="1">
                <a:solidFill>
                  <a:schemeClr val="bg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E3D7D37-D8A6-4116-A5F9-71D359CABBCF}"/>
              </a:ext>
            </a:extLst>
          </p:cNvPr>
          <p:cNvSpPr txBox="1"/>
          <p:nvPr/>
        </p:nvSpPr>
        <p:spPr>
          <a:xfrm>
            <a:off x="53117" y="100285"/>
            <a:ext cx="4106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dirty="0">
                <a:solidFill>
                  <a:schemeClr val="bg1"/>
                </a:solidFill>
              </a:rPr>
              <a:t>Hoshin </a:t>
            </a:r>
            <a:r>
              <a:rPr lang="en-ID" sz="2400" dirty="0" err="1">
                <a:solidFill>
                  <a:schemeClr val="bg1"/>
                </a:solidFill>
              </a:rPr>
              <a:t>Kanry</a:t>
            </a:r>
            <a:endParaRPr lang="en-ID" sz="24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3D0ED6-82B7-44FB-BB88-7315EAB06249}"/>
              </a:ext>
            </a:extLst>
          </p:cNvPr>
          <p:cNvSpPr/>
          <p:nvPr/>
        </p:nvSpPr>
        <p:spPr>
          <a:xfrm>
            <a:off x="330632" y="1525164"/>
            <a:ext cx="3806252" cy="34834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3A70B2-918D-42E0-93B4-513FCC327C17}"/>
              </a:ext>
            </a:extLst>
          </p:cNvPr>
          <p:cNvSpPr/>
          <p:nvPr/>
        </p:nvSpPr>
        <p:spPr>
          <a:xfrm>
            <a:off x="4330449" y="1598316"/>
            <a:ext cx="4068768" cy="34102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5BA029-2142-4344-BC0B-DB4FAD01C948}"/>
              </a:ext>
            </a:extLst>
          </p:cNvPr>
          <p:cNvSpPr txBox="1"/>
          <p:nvPr/>
        </p:nvSpPr>
        <p:spPr>
          <a:xfrm rot="16200000">
            <a:off x="-778138" y="3040263"/>
            <a:ext cx="2381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b="1" dirty="0">
                <a:solidFill>
                  <a:srgbClr val="002060"/>
                </a:solidFill>
              </a:rPr>
              <a:t>FUNDAMENTAL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45B91A7-2639-4F8F-AEEE-0A0FAE573964}"/>
              </a:ext>
            </a:extLst>
          </p:cNvPr>
          <p:cNvGrpSpPr/>
          <p:nvPr/>
        </p:nvGrpSpPr>
        <p:grpSpPr>
          <a:xfrm rot="16200000">
            <a:off x="41938" y="2805292"/>
            <a:ext cx="2381930" cy="1004321"/>
            <a:chOff x="634803" y="1233714"/>
            <a:chExt cx="2381930" cy="1004321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DD3843A-7050-4D0A-B341-DA1FA71DEB34}"/>
                </a:ext>
              </a:extLst>
            </p:cNvPr>
            <p:cNvSpPr/>
            <p:nvPr/>
          </p:nvSpPr>
          <p:spPr>
            <a:xfrm>
              <a:off x="646793" y="1233714"/>
              <a:ext cx="2357950" cy="100432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A154F87-664B-4DAB-9C08-F8208A38B98D}"/>
                </a:ext>
              </a:extLst>
            </p:cNvPr>
            <p:cNvSpPr txBox="1"/>
            <p:nvPr/>
          </p:nvSpPr>
          <p:spPr>
            <a:xfrm>
              <a:off x="634803" y="1252602"/>
              <a:ext cx="23819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D" b="1" dirty="0"/>
                <a:t>Hansa </a:t>
              </a:r>
              <a:r>
                <a:rPr lang="en-ID" b="1" dirty="0" err="1"/>
                <a:t>Renkei</a:t>
              </a:r>
              <a:endParaRPr lang="en-ID" b="1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4280CB9-5FD5-4069-B7A2-CAAA4767812B}"/>
                </a:ext>
              </a:extLst>
            </p:cNvPr>
            <p:cNvSpPr/>
            <p:nvPr/>
          </p:nvSpPr>
          <p:spPr>
            <a:xfrm>
              <a:off x="1857829" y="1640822"/>
              <a:ext cx="1059542" cy="51204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D" sz="1600" b="1" dirty="0"/>
                <a:t>HRD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BAF53D9-8368-4502-9996-FDAE77D63499}"/>
                </a:ext>
              </a:extLst>
            </p:cNvPr>
            <p:cNvSpPr/>
            <p:nvPr/>
          </p:nvSpPr>
          <p:spPr>
            <a:xfrm>
              <a:off x="747209" y="1646213"/>
              <a:ext cx="1059542" cy="49214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D" sz="1600" b="1" dirty="0"/>
                <a:t>Kaizen Culture</a:t>
              </a: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8BFF055-D23E-4C23-88D0-740EA3835969}"/>
              </a:ext>
            </a:extLst>
          </p:cNvPr>
          <p:cNvSpPr/>
          <p:nvPr/>
        </p:nvSpPr>
        <p:spPr>
          <a:xfrm>
            <a:off x="1821516" y="2162210"/>
            <a:ext cx="2042848" cy="64804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u="sng" dirty="0">
                <a:solidFill>
                  <a:schemeClr val="tx1"/>
                </a:solidFill>
              </a:rPr>
              <a:t>Heart Touching Experience (HT)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4B67A70-6419-4EBF-8992-1AFFF9A39369}"/>
              </a:ext>
            </a:extLst>
          </p:cNvPr>
          <p:cNvSpPr/>
          <p:nvPr/>
        </p:nvSpPr>
        <p:spPr>
          <a:xfrm>
            <a:off x="1797821" y="3004032"/>
            <a:ext cx="2066543" cy="64804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u="sng" dirty="0">
                <a:solidFill>
                  <a:schemeClr val="tx1"/>
                </a:solidFill>
              </a:rPr>
              <a:t>Perfect SOP Delivery (SOP)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7AD62C4-1406-475A-B0C0-5964A0548EB8}"/>
              </a:ext>
            </a:extLst>
          </p:cNvPr>
          <p:cNvSpPr/>
          <p:nvPr/>
        </p:nvSpPr>
        <p:spPr>
          <a:xfrm>
            <a:off x="1799923" y="3856241"/>
            <a:ext cx="2064441" cy="64804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u="sng" dirty="0">
                <a:solidFill>
                  <a:schemeClr val="tx1"/>
                </a:solidFill>
              </a:rPr>
              <a:t>Customer Engagement (CE)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159ED6-357F-4907-A847-0400D9F0EA04}"/>
              </a:ext>
            </a:extLst>
          </p:cNvPr>
          <p:cNvSpPr txBox="1"/>
          <p:nvPr/>
        </p:nvSpPr>
        <p:spPr>
          <a:xfrm>
            <a:off x="1043418" y="1811666"/>
            <a:ext cx="23819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b="1" dirty="0"/>
              <a:t>Delighted </a:t>
            </a:r>
            <a:r>
              <a:rPr lang="en-ID" sz="1600" b="1" dirty="0" err="1"/>
              <a:t>Employe</a:t>
            </a:r>
            <a:endParaRPr lang="en-ID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3B5F44-B1FF-4ECD-A4AE-B8FFECBD1A56}"/>
              </a:ext>
            </a:extLst>
          </p:cNvPr>
          <p:cNvSpPr txBox="1"/>
          <p:nvPr/>
        </p:nvSpPr>
        <p:spPr>
          <a:xfrm>
            <a:off x="1351056" y="4759731"/>
            <a:ext cx="23819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b="1" dirty="0"/>
              <a:t>Employee Happiness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90046290-0202-45F7-AE9A-D266CD6B3301}"/>
              </a:ext>
            </a:extLst>
          </p:cNvPr>
          <p:cNvSpPr/>
          <p:nvPr/>
        </p:nvSpPr>
        <p:spPr>
          <a:xfrm rot="16200000">
            <a:off x="2410008" y="4208560"/>
            <a:ext cx="180619" cy="1083588"/>
          </a:xfrm>
          <a:prstGeom prst="homePlat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A904022-FD44-4EFA-ADC6-34C25D6E8E60}"/>
              </a:ext>
            </a:extLst>
          </p:cNvPr>
          <p:cNvSpPr/>
          <p:nvPr/>
        </p:nvSpPr>
        <p:spPr>
          <a:xfrm>
            <a:off x="699966" y="1833821"/>
            <a:ext cx="3436917" cy="2802159"/>
          </a:xfrm>
          <a:prstGeom prst="round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 u="sng" dirty="0">
              <a:solidFill>
                <a:schemeClr val="tx1"/>
              </a:solidFill>
            </a:endParaRPr>
          </a:p>
        </p:txBody>
      </p:sp>
      <p:sp>
        <p:nvSpPr>
          <p:cNvPr id="23" name="Arrow: Pentagon 22">
            <a:extLst>
              <a:ext uri="{FF2B5EF4-FFF2-40B4-BE49-F238E27FC236}">
                <a16:creationId xmlns:a16="http://schemas.microsoft.com/office/drawing/2014/main" id="{A6D2B436-EFD9-4F75-A62C-FE1A5568813C}"/>
              </a:ext>
            </a:extLst>
          </p:cNvPr>
          <p:cNvSpPr/>
          <p:nvPr/>
        </p:nvSpPr>
        <p:spPr>
          <a:xfrm>
            <a:off x="3939893" y="2334495"/>
            <a:ext cx="346370" cy="338554"/>
          </a:xfrm>
          <a:prstGeom prst="homePlat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Arrow: Pentagon 23">
            <a:extLst>
              <a:ext uri="{FF2B5EF4-FFF2-40B4-BE49-F238E27FC236}">
                <a16:creationId xmlns:a16="http://schemas.microsoft.com/office/drawing/2014/main" id="{17F4D37B-0CD9-405C-8B71-01D6A68B9A07}"/>
              </a:ext>
            </a:extLst>
          </p:cNvPr>
          <p:cNvSpPr/>
          <p:nvPr/>
        </p:nvSpPr>
        <p:spPr>
          <a:xfrm>
            <a:off x="3937260" y="3171325"/>
            <a:ext cx="346370" cy="338554"/>
          </a:xfrm>
          <a:prstGeom prst="homePlat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3718E661-33A2-4E99-8DAF-6A3D86C85F3F}"/>
              </a:ext>
            </a:extLst>
          </p:cNvPr>
          <p:cNvSpPr/>
          <p:nvPr/>
        </p:nvSpPr>
        <p:spPr>
          <a:xfrm>
            <a:off x="3929862" y="4034057"/>
            <a:ext cx="346370" cy="338554"/>
          </a:xfrm>
          <a:prstGeom prst="homePlat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15F8CF1-CA0B-4B44-8DCB-CDE819A930F8}"/>
              </a:ext>
            </a:extLst>
          </p:cNvPr>
          <p:cNvSpPr/>
          <p:nvPr/>
        </p:nvSpPr>
        <p:spPr>
          <a:xfrm rot="16200000">
            <a:off x="3518444" y="3000295"/>
            <a:ext cx="2324218" cy="64804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u="sng" dirty="0">
                <a:solidFill>
                  <a:schemeClr val="tx1"/>
                </a:solidFill>
              </a:rPr>
              <a:t>Customer Delight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D6222D3-D49C-41F3-BB21-80172EF05DC9}"/>
              </a:ext>
            </a:extLst>
          </p:cNvPr>
          <p:cNvSpPr/>
          <p:nvPr/>
        </p:nvSpPr>
        <p:spPr>
          <a:xfrm>
            <a:off x="538352" y="1472044"/>
            <a:ext cx="4672274" cy="3536548"/>
          </a:xfrm>
          <a:prstGeom prst="round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 u="sng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46D3980-D090-43A2-8406-925E27A7EE02}"/>
              </a:ext>
            </a:extLst>
          </p:cNvPr>
          <p:cNvSpPr/>
          <p:nvPr/>
        </p:nvSpPr>
        <p:spPr>
          <a:xfrm>
            <a:off x="5328042" y="1867719"/>
            <a:ext cx="1642461" cy="64804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u="sng" dirty="0">
                <a:solidFill>
                  <a:schemeClr val="tx1"/>
                </a:solidFill>
              </a:rPr>
              <a:t>New Customer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23DCF6C-BC70-4E2A-9E7B-F669CA5E6981}"/>
              </a:ext>
            </a:extLst>
          </p:cNvPr>
          <p:cNvSpPr/>
          <p:nvPr/>
        </p:nvSpPr>
        <p:spPr>
          <a:xfrm>
            <a:off x="5321914" y="2539959"/>
            <a:ext cx="1642461" cy="64804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u="sng" dirty="0">
                <a:solidFill>
                  <a:schemeClr val="tx1"/>
                </a:solidFill>
              </a:rPr>
              <a:t>Repurchase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2CB1A70-2555-4651-9CD0-63E03E3AA420}"/>
              </a:ext>
            </a:extLst>
          </p:cNvPr>
          <p:cNvSpPr/>
          <p:nvPr/>
        </p:nvSpPr>
        <p:spPr>
          <a:xfrm>
            <a:off x="5346625" y="3797916"/>
            <a:ext cx="1574208" cy="64804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u="sng" dirty="0">
                <a:solidFill>
                  <a:schemeClr val="tx1"/>
                </a:solidFill>
              </a:rPr>
              <a:t>Customer Retention</a:t>
            </a:r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4A70328E-6097-4DCF-9633-6181BDAB133C}"/>
              </a:ext>
            </a:extLst>
          </p:cNvPr>
          <p:cNvSpPr/>
          <p:nvPr/>
        </p:nvSpPr>
        <p:spPr>
          <a:xfrm>
            <a:off x="5116891" y="3933018"/>
            <a:ext cx="346370" cy="338554"/>
          </a:xfrm>
          <a:prstGeom prst="homePlat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Arrow: Pentagon 31">
            <a:extLst>
              <a:ext uri="{FF2B5EF4-FFF2-40B4-BE49-F238E27FC236}">
                <a16:creationId xmlns:a16="http://schemas.microsoft.com/office/drawing/2014/main" id="{AF385601-6E43-4EEC-B05A-7E9121ED3C6C}"/>
              </a:ext>
            </a:extLst>
          </p:cNvPr>
          <p:cNvSpPr/>
          <p:nvPr/>
        </p:nvSpPr>
        <p:spPr>
          <a:xfrm rot="16200000">
            <a:off x="5948904" y="3318186"/>
            <a:ext cx="346370" cy="338554"/>
          </a:xfrm>
          <a:prstGeom prst="homePlat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6B0939B-134D-4FB2-9FC1-C0FE888DC8B7}"/>
              </a:ext>
            </a:extLst>
          </p:cNvPr>
          <p:cNvSpPr/>
          <p:nvPr/>
        </p:nvSpPr>
        <p:spPr>
          <a:xfrm rot="16200000">
            <a:off x="6150969" y="2832816"/>
            <a:ext cx="2578244" cy="648047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600" b="1" u="sng" dirty="0">
                <a:solidFill>
                  <a:schemeClr val="bg1"/>
                </a:solidFill>
              </a:rPr>
              <a:t>Sustained Business    &lt;Sales, Service, Used Car&gt;</a:t>
            </a:r>
          </a:p>
        </p:txBody>
      </p:sp>
      <p:sp>
        <p:nvSpPr>
          <p:cNvPr id="34" name="Arrow: Pentagon 33">
            <a:extLst>
              <a:ext uri="{FF2B5EF4-FFF2-40B4-BE49-F238E27FC236}">
                <a16:creationId xmlns:a16="http://schemas.microsoft.com/office/drawing/2014/main" id="{9651B754-30DE-4B65-A777-1836155196EE}"/>
              </a:ext>
            </a:extLst>
          </p:cNvPr>
          <p:cNvSpPr/>
          <p:nvPr/>
        </p:nvSpPr>
        <p:spPr>
          <a:xfrm>
            <a:off x="6767838" y="3929022"/>
            <a:ext cx="346370" cy="338554"/>
          </a:xfrm>
          <a:prstGeom prst="homePlat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3A5BE6D-6A34-40B0-AB96-54C7007C6ADA}"/>
              </a:ext>
            </a:extLst>
          </p:cNvPr>
          <p:cNvSpPr/>
          <p:nvPr/>
        </p:nvSpPr>
        <p:spPr>
          <a:xfrm>
            <a:off x="6737785" y="4660044"/>
            <a:ext cx="1331130" cy="32465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dirty="0"/>
              <a:t>Profit Base</a:t>
            </a:r>
          </a:p>
        </p:txBody>
      </p:sp>
      <p:sp>
        <p:nvSpPr>
          <p:cNvPr id="36" name="Arrow: Pentagon 35">
            <a:extLst>
              <a:ext uri="{FF2B5EF4-FFF2-40B4-BE49-F238E27FC236}">
                <a16:creationId xmlns:a16="http://schemas.microsoft.com/office/drawing/2014/main" id="{A9AEC03A-120B-497A-BFA2-F0CCADD01B00}"/>
              </a:ext>
            </a:extLst>
          </p:cNvPr>
          <p:cNvSpPr/>
          <p:nvPr/>
        </p:nvSpPr>
        <p:spPr>
          <a:xfrm rot="5400000">
            <a:off x="7316437" y="4318587"/>
            <a:ext cx="180277" cy="474720"/>
          </a:xfrm>
          <a:prstGeom prst="homePlat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F6D54C-2126-40CC-BAF1-B9DF7459A7E0}"/>
              </a:ext>
            </a:extLst>
          </p:cNvPr>
          <p:cNvSpPr txBox="1"/>
          <p:nvPr/>
        </p:nvSpPr>
        <p:spPr>
          <a:xfrm rot="16200000">
            <a:off x="6835472" y="2996268"/>
            <a:ext cx="2384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b="1" dirty="0">
                <a:solidFill>
                  <a:srgbClr val="002060"/>
                </a:solidFill>
              </a:rPr>
              <a:t>PERFORMANCE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DCC8227-6E38-426F-A7B6-58F17402234A}"/>
              </a:ext>
            </a:extLst>
          </p:cNvPr>
          <p:cNvSpPr/>
          <p:nvPr/>
        </p:nvSpPr>
        <p:spPr>
          <a:xfrm>
            <a:off x="5222069" y="1732602"/>
            <a:ext cx="1830314" cy="1576534"/>
          </a:xfrm>
          <a:prstGeom prst="round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 u="sng" dirty="0">
              <a:solidFill>
                <a:schemeClr val="tx1"/>
              </a:solidFill>
            </a:endParaRPr>
          </a:p>
        </p:txBody>
      </p:sp>
      <p:sp>
        <p:nvSpPr>
          <p:cNvPr id="39" name="Arrow: Pentagon 38">
            <a:extLst>
              <a:ext uri="{FF2B5EF4-FFF2-40B4-BE49-F238E27FC236}">
                <a16:creationId xmlns:a16="http://schemas.microsoft.com/office/drawing/2014/main" id="{4B2C6640-419E-4193-BFD8-0C2009FCFCC6}"/>
              </a:ext>
            </a:extLst>
          </p:cNvPr>
          <p:cNvSpPr/>
          <p:nvPr/>
        </p:nvSpPr>
        <p:spPr>
          <a:xfrm>
            <a:off x="5091658" y="2346489"/>
            <a:ext cx="346370" cy="338554"/>
          </a:xfrm>
          <a:prstGeom prst="homePlat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0" name="Arrow: Pentagon 39">
            <a:extLst>
              <a:ext uri="{FF2B5EF4-FFF2-40B4-BE49-F238E27FC236}">
                <a16:creationId xmlns:a16="http://schemas.microsoft.com/office/drawing/2014/main" id="{DBC1BA1B-6BB8-4EEE-9885-5BF530485BD2}"/>
              </a:ext>
            </a:extLst>
          </p:cNvPr>
          <p:cNvSpPr/>
          <p:nvPr/>
        </p:nvSpPr>
        <p:spPr>
          <a:xfrm>
            <a:off x="6768450" y="2351413"/>
            <a:ext cx="346370" cy="338554"/>
          </a:xfrm>
          <a:prstGeom prst="homePlat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346C1F6-9A06-487B-8AEA-099B343732F2}"/>
              </a:ext>
            </a:extLst>
          </p:cNvPr>
          <p:cNvSpPr/>
          <p:nvPr/>
        </p:nvSpPr>
        <p:spPr>
          <a:xfrm>
            <a:off x="1546428" y="1192054"/>
            <a:ext cx="1476771" cy="33311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b="1" u="sng" dirty="0">
                <a:solidFill>
                  <a:schemeClr val="accent2">
                    <a:lumMod val="75000"/>
                  </a:schemeClr>
                </a:solidFill>
              </a:rPr>
              <a:t>WORDS OF MOUTH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00133B-8B4E-4369-A7B0-8AEB56A62745}"/>
              </a:ext>
            </a:extLst>
          </p:cNvPr>
          <p:cNvSpPr txBox="1"/>
          <p:nvPr/>
        </p:nvSpPr>
        <p:spPr>
          <a:xfrm>
            <a:off x="1094220" y="1514125"/>
            <a:ext cx="23819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b="1" dirty="0">
                <a:solidFill>
                  <a:srgbClr val="0070C0"/>
                </a:solidFill>
              </a:rPr>
              <a:t>Sales &amp; After Sales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3C52D58-ECB8-4833-A7F9-243E95DD674B}"/>
              </a:ext>
            </a:extLst>
          </p:cNvPr>
          <p:cNvSpPr/>
          <p:nvPr/>
        </p:nvSpPr>
        <p:spPr>
          <a:xfrm>
            <a:off x="3813305" y="878642"/>
            <a:ext cx="1476771" cy="33311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b="1" u="sng" dirty="0">
                <a:solidFill>
                  <a:schemeClr val="tx1"/>
                </a:solidFill>
              </a:rPr>
              <a:t>Competitor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59E95598-1F3F-43E9-802C-C3FA239F1F07}"/>
              </a:ext>
            </a:extLst>
          </p:cNvPr>
          <p:cNvCxnSpPr>
            <a:stCxn id="41" idx="0"/>
            <a:endCxn id="43" idx="1"/>
          </p:cNvCxnSpPr>
          <p:nvPr/>
        </p:nvCxnSpPr>
        <p:spPr>
          <a:xfrm rot="5400000" flipH="1" flipV="1">
            <a:off x="2975631" y="354381"/>
            <a:ext cx="146857" cy="1528491"/>
          </a:xfrm>
          <a:prstGeom prst="bentConnector2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7A196DEF-8FE4-4FAA-95FC-A92EE905903A}"/>
              </a:ext>
            </a:extLst>
          </p:cNvPr>
          <p:cNvCxnSpPr>
            <a:stCxn id="43" idx="3"/>
            <a:endCxn id="38" idx="0"/>
          </p:cNvCxnSpPr>
          <p:nvPr/>
        </p:nvCxnSpPr>
        <p:spPr>
          <a:xfrm>
            <a:off x="5290076" y="1045197"/>
            <a:ext cx="847150" cy="687405"/>
          </a:xfrm>
          <a:prstGeom prst="bentConnector2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20D536F-F05F-4CB1-88EA-C1793BBE8B02}"/>
              </a:ext>
            </a:extLst>
          </p:cNvPr>
          <p:cNvSpPr/>
          <p:nvPr/>
        </p:nvSpPr>
        <p:spPr>
          <a:xfrm>
            <a:off x="212771" y="686830"/>
            <a:ext cx="8379686" cy="4930201"/>
          </a:xfrm>
          <a:prstGeom prst="roundRect">
            <a:avLst/>
          </a:prstGeom>
          <a:noFill/>
          <a:ln w="730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 u="sng" dirty="0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6CE9770-9251-457E-803C-58901BA074FB}"/>
              </a:ext>
            </a:extLst>
          </p:cNvPr>
          <p:cNvSpPr/>
          <p:nvPr/>
        </p:nvSpPr>
        <p:spPr>
          <a:xfrm>
            <a:off x="1592159" y="5180918"/>
            <a:ext cx="5408403" cy="61288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tx1"/>
                </a:solidFill>
              </a:rPr>
              <a:t>Interaction through Sustained Contribution (CSR)                                       (</a:t>
            </a:r>
            <a:r>
              <a:rPr lang="en-ID" sz="1400" b="1" dirty="0">
                <a:solidFill>
                  <a:schemeClr val="accent2"/>
                </a:solidFill>
              </a:rPr>
              <a:t>Good Company </a:t>
            </a:r>
            <a:r>
              <a:rPr lang="en-ID" sz="1400" b="1" dirty="0">
                <a:solidFill>
                  <a:schemeClr val="accent2"/>
                </a:solidFill>
                <a:sym typeface="Wingdings" panose="05000000000000000000" pitchFamily="2" charset="2"/>
              </a:rPr>
              <a:t> Respected by Society  Best in Town</a:t>
            </a:r>
            <a:r>
              <a:rPr lang="en-ID" b="1" dirty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  <a:endParaRPr lang="en-ID" b="1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6490C82-52D3-47ED-8487-4617BE8B533E}"/>
              </a:ext>
            </a:extLst>
          </p:cNvPr>
          <p:cNvSpPr/>
          <p:nvPr/>
        </p:nvSpPr>
        <p:spPr>
          <a:xfrm>
            <a:off x="8826274" y="1561740"/>
            <a:ext cx="2863978" cy="34102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B6A8984-1575-49F4-9F06-37F5DB76F0B3}"/>
              </a:ext>
            </a:extLst>
          </p:cNvPr>
          <p:cNvSpPr/>
          <p:nvPr/>
        </p:nvSpPr>
        <p:spPr>
          <a:xfrm>
            <a:off x="9020261" y="1961356"/>
            <a:ext cx="2471773" cy="64804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u="sng" dirty="0">
                <a:solidFill>
                  <a:schemeClr val="tx1"/>
                </a:solidFill>
              </a:rPr>
              <a:t>Employee Satisfaction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25BF8E2-5D1F-4678-B722-3F716F6EB8BD}"/>
              </a:ext>
            </a:extLst>
          </p:cNvPr>
          <p:cNvSpPr/>
          <p:nvPr/>
        </p:nvSpPr>
        <p:spPr>
          <a:xfrm>
            <a:off x="8999199" y="2982468"/>
            <a:ext cx="2492835" cy="64804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u="sng" dirty="0">
                <a:solidFill>
                  <a:schemeClr val="tx1"/>
                </a:solidFill>
              </a:rPr>
              <a:t>Customer Satisfaction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BF5FB5ED-8ED7-4AB1-8694-7E5D662A309E}"/>
              </a:ext>
            </a:extLst>
          </p:cNvPr>
          <p:cNvSpPr/>
          <p:nvPr/>
        </p:nvSpPr>
        <p:spPr>
          <a:xfrm>
            <a:off x="8999199" y="3987831"/>
            <a:ext cx="2516659" cy="64804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u="sng" dirty="0">
                <a:solidFill>
                  <a:schemeClr val="tx1"/>
                </a:solidFill>
              </a:rPr>
              <a:t>Dealer Satisfaction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B21138-6604-48B5-B922-C959C0506CA6}"/>
              </a:ext>
            </a:extLst>
          </p:cNvPr>
          <p:cNvSpPr txBox="1"/>
          <p:nvPr/>
        </p:nvSpPr>
        <p:spPr>
          <a:xfrm>
            <a:off x="9063764" y="1071934"/>
            <a:ext cx="2384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b="1" dirty="0">
                <a:solidFill>
                  <a:srgbClr val="002060"/>
                </a:solidFill>
              </a:rPr>
              <a:t>Outlet Classification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8D32BAA-7CA1-48AE-98D0-BFE45E6B12DF}"/>
              </a:ext>
            </a:extLst>
          </p:cNvPr>
          <p:cNvSpPr/>
          <p:nvPr/>
        </p:nvSpPr>
        <p:spPr>
          <a:xfrm rot="20477730">
            <a:off x="8662415" y="1585490"/>
            <a:ext cx="1509486" cy="28769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/>
              <a:t>Best In Town</a:t>
            </a:r>
          </a:p>
        </p:txBody>
      </p:sp>
      <p:sp>
        <p:nvSpPr>
          <p:cNvPr id="54" name="Flowchart: Alternate Process 53">
            <a:extLst>
              <a:ext uri="{FF2B5EF4-FFF2-40B4-BE49-F238E27FC236}">
                <a16:creationId xmlns:a16="http://schemas.microsoft.com/office/drawing/2014/main" id="{5A78640C-CA38-4EB5-BB62-26E574C6C9B4}"/>
              </a:ext>
            </a:extLst>
          </p:cNvPr>
          <p:cNvSpPr/>
          <p:nvPr/>
        </p:nvSpPr>
        <p:spPr>
          <a:xfrm>
            <a:off x="304102" y="6163719"/>
            <a:ext cx="11549827" cy="525698"/>
          </a:xfrm>
          <a:prstGeom prst="flowChartAlternateProcess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" dist="50800" dir="14400000" sx="101000" sy="101000" algn="br" rotWithShape="0">
              <a:schemeClr val="tx1"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800" dirty="0" err="1">
                <a:solidFill>
                  <a:schemeClr val="tx1"/>
                </a:solidFill>
              </a:rPr>
              <a:t>Cabang</a:t>
            </a:r>
            <a:r>
              <a:rPr lang="en-ID" sz="2800" dirty="0">
                <a:solidFill>
                  <a:schemeClr val="tx1"/>
                </a:solidFill>
              </a:rPr>
              <a:t> </a:t>
            </a:r>
            <a:r>
              <a:rPr lang="en-ID" sz="2800" dirty="0" err="1">
                <a:solidFill>
                  <a:schemeClr val="tx1"/>
                </a:solidFill>
              </a:rPr>
              <a:t>ingin</a:t>
            </a:r>
            <a:r>
              <a:rPr lang="en-ID" sz="2800" dirty="0">
                <a:solidFill>
                  <a:schemeClr val="tx1"/>
                </a:solidFill>
              </a:rPr>
              <a:t> </a:t>
            </a:r>
            <a:r>
              <a:rPr lang="en-ID" sz="2800" dirty="0" err="1">
                <a:solidFill>
                  <a:schemeClr val="tx1"/>
                </a:solidFill>
              </a:rPr>
              <a:t>menjadi</a:t>
            </a:r>
            <a:r>
              <a:rPr lang="en-ID" sz="2800" dirty="0">
                <a:solidFill>
                  <a:schemeClr val="tx1"/>
                </a:solidFill>
              </a:rPr>
              <a:t> Best in Town </a:t>
            </a:r>
            <a:r>
              <a:rPr lang="en-ID" sz="2800" dirty="0" err="1">
                <a:solidFill>
                  <a:schemeClr val="tx1"/>
                </a:solidFill>
              </a:rPr>
              <a:t>melalui</a:t>
            </a:r>
            <a:r>
              <a:rPr lang="en-ID" sz="2800" dirty="0">
                <a:solidFill>
                  <a:schemeClr val="tx1"/>
                </a:solidFill>
              </a:rPr>
              <a:t> </a:t>
            </a:r>
            <a:r>
              <a:rPr lang="en-ID" sz="2800" dirty="0" err="1">
                <a:solidFill>
                  <a:schemeClr val="tx1"/>
                </a:solidFill>
              </a:rPr>
              <a:t>skema</a:t>
            </a:r>
            <a:r>
              <a:rPr lang="en-ID" sz="2800" dirty="0">
                <a:solidFill>
                  <a:schemeClr val="tx1"/>
                </a:solidFill>
              </a:rPr>
              <a:t> Outlet Classification </a:t>
            </a:r>
          </a:p>
        </p:txBody>
      </p:sp>
      <p:sp>
        <p:nvSpPr>
          <p:cNvPr id="55" name="Arrow: Pentagon 54">
            <a:extLst>
              <a:ext uri="{FF2B5EF4-FFF2-40B4-BE49-F238E27FC236}">
                <a16:creationId xmlns:a16="http://schemas.microsoft.com/office/drawing/2014/main" id="{C86ACD3E-AF86-4E6A-8D73-F6F869FBBED4}"/>
              </a:ext>
            </a:extLst>
          </p:cNvPr>
          <p:cNvSpPr/>
          <p:nvPr/>
        </p:nvSpPr>
        <p:spPr>
          <a:xfrm>
            <a:off x="8269572" y="3169713"/>
            <a:ext cx="556701" cy="338554"/>
          </a:xfrm>
          <a:prstGeom prst="homePlat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6" name="Arrow: Pentagon 55">
            <a:extLst>
              <a:ext uri="{FF2B5EF4-FFF2-40B4-BE49-F238E27FC236}">
                <a16:creationId xmlns:a16="http://schemas.microsoft.com/office/drawing/2014/main" id="{EB604C0D-94CD-483F-97E8-FCAB6A581404}"/>
              </a:ext>
            </a:extLst>
          </p:cNvPr>
          <p:cNvSpPr/>
          <p:nvPr/>
        </p:nvSpPr>
        <p:spPr>
          <a:xfrm flipH="1">
            <a:off x="10548995" y="62690"/>
            <a:ext cx="1643004" cy="464234"/>
          </a:xfrm>
          <a:prstGeom prst="homePlat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3600" dirty="0"/>
              <a:t>Step 1</a:t>
            </a:r>
          </a:p>
        </p:txBody>
      </p:sp>
    </p:spTree>
    <p:extLst>
      <p:ext uri="{BB962C8B-B14F-4D97-AF65-F5344CB8AC3E}">
        <p14:creationId xmlns:p14="http://schemas.microsoft.com/office/powerpoint/2010/main" val="1029428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3DA7683-A556-47BD-9868-23E92CFE69B0}"/>
              </a:ext>
            </a:extLst>
          </p:cNvPr>
          <p:cNvGrpSpPr/>
          <p:nvPr/>
        </p:nvGrpSpPr>
        <p:grpSpPr>
          <a:xfrm>
            <a:off x="0" y="62690"/>
            <a:ext cx="10722540" cy="464235"/>
            <a:chOff x="0" y="239152"/>
            <a:chExt cx="11690252" cy="464235"/>
          </a:xfrm>
          <a:gradFill flip="none" rotWithShape="1">
            <a:gsLst>
              <a:gs pos="39000">
                <a:srgbClr val="88686C"/>
              </a:gs>
              <a:gs pos="1000">
                <a:schemeClr val="accent2">
                  <a:lumMod val="75000"/>
                </a:schemeClr>
              </a:gs>
              <a:gs pos="49000">
                <a:schemeClr val="accent1">
                  <a:lumMod val="97000"/>
                  <a:lumOff val="3000"/>
                </a:schemeClr>
              </a:gs>
              <a:gs pos="100000">
                <a:srgbClr val="002060"/>
              </a:gs>
            </a:gsLst>
            <a:path path="circle">
              <a:fillToRect l="100000" t="100000"/>
            </a:path>
            <a:tileRect r="-100000" b="-100000"/>
          </a:gradFill>
        </p:grpSpPr>
        <p:sp>
          <p:nvSpPr>
            <p:cNvPr id="5" name="Arrow: Chevron 4">
              <a:extLst>
                <a:ext uri="{FF2B5EF4-FFF2-40B4-BE49-F238E27FC236}">
                  <a16:creationId xmlns:a16="http://schemas.microsoft.com/office/drawing/2014/main" id="{4C9EE8FD-9433-4DB1-A749-33DB690982F2}"/>
                </a:ext>
              </a:extLst>
            </p:cNvPr>
            <p:cNvSpPr/>
            <p:nvPr/>
          </p:nvSpPr>
          <p:spPr>
            <a:xfrm flipH="1">
              <a:off x="647114" y="239153"/>
              <a:ext cx="11043138" cy="46423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ID" sz="3600" b="1" dirty="0" err="1">
                  <a:solidFill>
                    <a:schemeClr val="bg1"/>
                  </a:solidFill>
                </a:rPr>
                <a:t>Menentukan</a:t>
              </a:r>
              <a:r>
                <a:rPr lang="en-ID" sz="3600" b="1" dirty="0">
                  <a:solidFill>
                    <a:schemeClr val="bg1"/>
                  </a:solidFill>
                </a:rPr>
                <a:t> </a:t>
              </a:r>
              <a:r>
                <a:rPr lang="en-ID" sz="3600" b="1" dirty="0" err="1">
                  <a:solidFill>
                    <a:schemeClr val="bg1"/>
                  </a:solidFill>
                </a:rPr>
                <a:t>Tema</a:t>
              </a:r>
              <a:endParaRPr lang="en-ID"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Arrow: Pentagon 5">
              <a:extLst>
                <a:ext uri="{FF2B5EF4-FFF2-40B4-BE49-F238E27FC236}">
                  <a16:creationId xmlns:a16="http://schemas.microsoft.com/office/drawing/2014/main" id="{C9853AD8-B630-4044-BE9E-BA603DE17760}"/>
                </a:ext>
              </a:extLst>
            </p:cNvPr>
            <p:cNvSpPr/>
            <p:nvPr/>
          </p:nvSpPr>
          <p:spPr>
            <a:xfrm>
              <a:off x="0" y="239152"/>
              <a:ext cx="1350495" cy="464234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ID" sz="3600" b="1">
                <a:solidFill>
                  <a:schemeClr val="bg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AB410A2-541C-4555-89C1-96876362BA1F}"/>
              </a:ext>
            </a:extLst>
          </p:cNvPr>
          <p:cNvSpPr txBox="1"/>
          <p:nvPr/>
        </p:nvSpPr>
        <p:spPr>
          <a:xfrm>
            <a:off x="53117" y="100285"/>
            <a:ext cx="4106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dirty="0">
                <a:solidFill>
                  <a:schemeClr val="bg1"/>
                </a:solidFill>
              </a:rPr>
              <a:t>KPI Problem Anal</a:t>
            </a:r>
          </a:p>
        </p:txBody>
      </p:sp>
      <p:graphicFrame>
        <p:nvGraphicFramePr>
          <p:cNvPr id="8" name="Table 27">
            <a:extLst>
              <a:ext uri="{FF2B5EF4-FFF2-40B4-BE49-F238E27FC236}">
                <a16:creationId xmlns:a16="http://schemas.microsoft.com/office/drawing/2014/main" id="{A7A73C34-AF04-48BB-9928-3D6D47628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20302"/>
              </p:ext>
            </p:extLst>
          </p:nvPr>
        </p:nvGraphicFramePr>
        <p:xfrm>
          <a:off x="106930" y="914397"/>
          <a:ext cx="3058301" cy="57396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636">
                  <a:extLst>
                    <a:ext uri="{9D8B030D-6E8A-4147-A177-3AD203B41FA5}">
                      <a16:colId xmlns:a16="http://schemas.microsoft.com/office/drawing/2014/main" val="428097189"/>
                    </a:ext>
                  </a:extLst>
                </a:gridCol>
                <a:gridCol w="649318">
                  <a:extLst>
                    <a:ext uri="{9D8B030D-6E8A-4147-A177-3AD203B41FA5}">
                      <a16:colId xmlns:a16="http://schemas.microsoft.com/office/drawing/2014/main" val="3054629141"/>
                    </a:ext>
                  </a:extLst>
                </a:gridCol>
                <a:gridCol w="630842">
                  <a:extLst>
                    <a:ext uri="{9D8B030D-6E8A-4147-A177-3AD203B41FA5}">
                      <a16:colId xmlns:a16="http://schemas.microsoft.com/office/drawing/2014/main" val="3684287535"/>
                    </a:ext>
                  </a:extLst>
                </a:gridCol>
                <a:gridCol w="520505">
                  <a:extLst>
                    <a:ext uri="{9D8B030D-6E8A-4147-A177-3AD203B41FA5}">
                      <a16:colId xmlns:a16="http://schemas.microsoft.com/office/drawing/2014/main" val="1232366542"/>
                    </a:ext>
                  </a:extLst>
                </a:gridCol>
              </a:tblGrid>
              <a:tr h="4883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/>
                        <a:t>Customer Satisfaction (20%)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 err="1"/>
                        <a:t>Aktual</a:t>
                      </a:r>
                      <a:endParaRPr lang="en-ID" sz="11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13839735"/>
                  </a:ext>
                </a:extLst>
              </a:tr>
              <a:tr h="431147"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FIR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98%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97%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101%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60342072"/>
                  </a:ext>
                </a:extLst>
              </a:tr>
              <a:tr h="310778"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RTJ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43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116%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5766215"/>
                  </a:ext>
                </a:extLst>
              </a:tr>
              <a:tr h="310778">
                <a:tc>
                  <a:txBody>
                    <a:bodyPr/>
                    <a:lstStyle/>
                    <a:p>
                      <a:pPr algn="ctr"/>
                      <a:r>
                        <a:rPr lang="en-ID" sz="1100" dirty="0" err="1"/>
                        <a:t>Succes</a:t>
                      </a:r>
                      <a:r>
                        <a:rPr lang="en-ID" sz="1100" dirty="0"/>
                        <a:t> Call PSFU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99%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98%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101%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78230145"/>
                  </a:ext>
                </a:extLst>
              </a:tr>
              <a:tr h="310778"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Fill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98,4%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95%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103%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27798701"/>
                  </a:ext>
                </a:extLst>
              </a:tr>
              <a:tr h="310778"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VOC </a:t>
                      </a:r>
                      <a:r>
                        <a:rPr lang="en-ID" sz="1100" dirty="0" err="1"/>
                        <a:t>Qwantity</a:t>
                      </a:r>
                      <a:endParaRPr lang="en-ID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89%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127%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69719646"/>
                  </a:ext>
                </a:extLst>
              </a:tr>
              <a:tr h="3107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/>
                        <a:t>Leadtime Total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2:09:34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2:20:00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108%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281208"/>
                  </a:ext>
                </a:extLst>
              </a:tr>
              <a:tr h="310778"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Leadtime SBE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1:49:27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1:45:00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96%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23022876"/>
                  </a:ext>
                </a:extLst>
              </a:tr>
              <a:tr h="310778"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Leadtime EM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1:12:35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1:00:00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9830125"/>
                  </a:ext>
                </a:extLst>
              </a:tr>
              <a:tr h="469215"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1</a:t>
                      </a:r>
                      <a:r>
                        <a:rPr lang="en-ID" sz="1100" baseline="30000" dirty="0"/>
                        <a:t>st</a:t>
                      </a:r>
                      <a:r>
                        <a:rPr lang="en-ID" sz="1100" dirty="0"/>
                        <a:t> Promise Delivery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39%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78%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5423422"/>
                  </a:ext>
                </a:extLst>
              </a:tr>
              <a:tr h="310778"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EM Contribution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0,9%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2581432"/>
                  </a:ext>
                </a:extLst>
              </a:tr>
              <a:tr h="621556"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MRA Database Valid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73%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35%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208%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0328388"/>
                  </a:ext>
                </a:extLst>
              </a:tr>
              <a:tr h="310778"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App. Rate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40%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57%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218270"/>
                  </a:ext>
                </a:extLst>
              </a:tr>
              <a:tr h="310778"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DTR </a:t>
                      </a:r>
                      <a:r>
                        <a:rPr lang="en-ID" sz="1100" dirty="0" err="1"/>
                        <a:t>Qwantity</a:t>
                      </a:r>
                      <a:endParaRPr lang="en-ID" sz="1100" dirty="0"/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116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232%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1786295"/>
                  </a:ext>
                </a:extLst>
              </a:tr>
              <a:tr h="310778"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DTR </a:t>
                      </a:r>
                      <a:r>
                        <a:rPr lang="en-ID" sz="1100" dirty="0" err="1"/>
                        <a:t>Qwality</a:t>
                      </a:r>
                      <a:endParaRPr lang="en-ID" sz="1100" dirty="0"/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88,8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104%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744715"/>
                  </a:ext>
                </a:extLst>
              </a:tr>
              <a:tr h="310778"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NPS Ratio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77%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110%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5541858"/>
                  </a:ext>
                </a:extLst>
              </a:tr>
            </a:tbl>
          </a:graphicData>
        </a:graphic>
      </p:graphicFrame>
      <p:graphicFrame>
        <p:nvGraphicFramePr>
          <p:cNvPr id="9" name="Table 27">
            <a:extLst>
              <a:ext uri="{FF2B5EF4-FFF2-40B4-BE49-F238E27FC236}">
                <a16:creationId xmlns:a16="http://schemas.microsoft.com/office/drawing/2014/main" id="{E754E928-4924-415F-8D88-351D36DBAA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151025"/>
              </p:ext>
            </p:extLst>
          </p:nvPr>
        </p:nvGraphicFramePr>
        <p:xfrm>
          <a:off x="3387855" y="913639"/>
          <a:ext cx="3085297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179">
                  <a:extLst>
                    <a:ext uri="{9D8B030D-6E8A-4147-A177-3AD203B41FA5}">
                      <a16:colId xmlns:a16="http://schemas.microsoft.com/office/drawing/2014/main" val="428097189"/>
                    </a:ext>
                  </a:extLst>
                </a:gridCol>
                <a:gridCol w="643770">
                  <a:extLst>
                    <a:ext uri="{9D8B030D-6E8A-4147-A177-3AD203B41FA5}">
                      <a16:colId xmlns:a16="http://schemas.microsoft.com/office/drawing/2014/main" val="3054629141"/>
                    </a:ext>
                  </a:extLst>
                </a:gridCol>
                <a:gridCol w="604911">
                  <a:extLst>
                    <a:ext uri="{9D8B030D-6E8A-4147-A177-3AD203B41FA5}">
                      <a16:colId xmlns:a16="http://schemas.microsoft.com/office/drawing/2014/main" val="3684287535"/>
                    </a:ext>
                  </a:extLst>
                </a:gridCol>
                <a:gridCol w="506437">
                  <a:extLst>
                    <a:ext uri="{9D8B030D-6E8A-4147-A177-3AD203B41FA5}">
                      <a16:colId xmlns:a16="http://schemas.microsoft.com/office/drawing/2014/main" val="29066990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/>
                        <a:t>Dealer Satisfaction (20%)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dirty="0" err="1"/>
                        <a:t>Aktual</a:t>
                      </a:r>
                      <a:endParaRPr lang="en-ID" sz="12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dirty="0"/>
                        <a:t>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dirty="0"/>
                        <a:t>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13839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CPUS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91%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90%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101%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60342072"/>
                  </a:ext>
                </a:extLst>
              </a:tr>
              <a:tr h="117763"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CPS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465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103%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5766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TMO Share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84%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90%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93%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78230145"/>
                  </a:ext>
                </a:extLst>
              </a:tr>
              <a:tr h="209203"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Absorption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79%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112%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27798701"/>
                  </a:ext>
                </a:extLst>
              </a:tr>
            </a:tbl>
          </a:graphicData>
        </a:graphic>
      </p:graphicFrame>
      <p:graphicFrame>
        <p:nvGraphicFramePr>
          <p:cNvPr id="10" name="Table 27">
            <a:extLst>
              <a:ext uri="{FF2B5EF4-FFF2-40B4-BE49-F238E27FC236}">
                <a16:creationId xmlns:a16="http://schemas.microsoft.com/office/drawing/2014/main" id="{82D894B2-F3C3-4875-BD89-8D5F5D05C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543977"/>
              </p:ext>
            </p:extLst>
          </p:nvPr>
        </p:nvGraphicFramePr>
        <p:xfrm>
          <a:off x="3387856" y="4130158"/>
          <a:ext cx="3085297" cy="71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158">
                  <a:extLst>
                    <a:ext uri="{9D8B030D-6E8A-4147-A177-3AD203B41FA5}">
                      <a16:colId xmlns:a16="http://schemas.microsoft.com/office/drawing/2014/main" val="428097189"/>
                    </a:ext>
                  </a:extLst>
                </a:gridCol>
                <a:gridCol w="618978">
                  <a:extLst>
                    <a:ext uri="{9D8B030D-6E8A-4147-A177-3AD203B41FA5}">
                      <a16:colId xmlns:a16="http://schemas.microsoft.com/office/drawing/2014/main" val="3054629141"/>
                    </a:ext>
                  </a:extLst>
                </a:gridCol>
                <a:gridCol w="618979">
                  <a:extLst>
                    <a:ext uri="{9D8B030D-6E8A-4147-A177-3AD203B41FA5}">
                      <a16:colId xmlns:a16="http://schemas.microsoft.com/office/drawing/2014/main" val="3684287535"/>
                    </a:ext>
                  </a:extLst>
                </a:gridCol>
                <a:gridCol w="452182">
                  <a:extLst>
                    <a:ext uri="{9D8B030D-6E8A-4147-A177-3AD203B41FA5}">
                      <a16:colId xmlns:a16="http://schemas.microsoft.com/office/drawing/2014/main" val="41597758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/>
                        <a:t>Employee Satisfaction (20%)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dirty="0" err="1"/>
                        <a:t>Aktual</a:t>
                      </a:r>
                      <a:endParaRPr lang="en-ID" sz="12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dirty="0"/>
                        <a:t>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dirty="0"/>
                        <a:t>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13839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Employee Happiness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dirty="0"/>
                        <a:t>4,60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11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11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60342072"/>
                  </a:ext>
                </a:extLst>
              </a:tr>
            </a:tbl>
          </a:graphicData>
        </a:graphic>
      </p:graphicFrame>
      <p:sp>
        <p:nvSpPr>
          <p:cNvPr id="38" name="Arrow: Pentagon 37">
            <a:extLst>
              <a:ext uri="{FF2B5EF4-FFF2-40B4-BE49-F238E27FC236}">
                <a16:creationId xmlns:a16="http://schemas.microsoft.com/office/drawing/2014/main" id="{DB36EA43-595D-4762-9DC5-FE39737A84FD}"/>
              </a:ext>
            </a:extLst>
          </p:cNvPr>
          <p:cNvSpPr/>
          <p:nvPr/>
        </p:nvSpPr>
        <p:spPr>
          <a:xfrm flipH="1">
            <a:off x="10548995" y="62690"/>
            <a:ext cx="1643004" cy="464234"/>
          </a:xfrm>
          <a:prstGeom prst="homePlat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3600" dirty="0"/>
              <a:t>Step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050BA7-80AB-4F22-8B30-1AF06516C096}"/>
              </a:ext>
            </a:extLst>
          </p:cNvPr>
          <p:cNvSpPr txBox="1"/>
          <p:nvPr/>
        </p:nvSpPr>
        <p:spPr>
          <a:xfrm>
            <a:off x="53117" y="517855"/>
            <a:ext cx="302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Customer Satisfaction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AC6926-DD30-4321-B7A9-65C5A28771EA}"/>
              </a:ext>
            </a:extLst>
          </p:cNvPr>
          <p:cNvSpPr txBox="1"/>
          <p:nvPr/>
        </p:nvSpPr>
        <p:spPr>
          <a:xfrm>
            <a:off x="3316820" y="517855"/>
            <a:ext cx="302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Dealer Satisfaction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941CBDC-5C03-4951-9BE8-1FDB569D4B70}"/>
              </a:ext>
            </a:extLst>
          </p:cNvPr>
          <p:cNvSpPr txBox="1"/>
          <p:nvPr/>
        </p:nvSpPr>
        <p:spPr>
          <a:xfrm>
            <a:off x="3316820" y="3748016"/>
            <a:ext cx="302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Employee Satisfaction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5B99619-EC99-4EB1-8C80-A827D7A5F5CD}"/>
              </a:ext>
            </a:extLst>
          </p:cNvPr>
          <p:cNvSpPr/>
          <p:nvPr/>
        </p:nvSpPr>
        <p:spPr>
          <a:xfrm>
            <a:off x="88873" y="3425482"/>
            <a:ext cx="3112114" cy="235634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736A1D-51FC-4404-9173-C91F0A5F0AFC}"/>
              </a:ext>
            </a:extLst>
          </p:cNvPr>
          <p:cNvSpPr/>
          <p:nvPr/>
        </p:nvSpPr>
        <p:spPr>
          <a:xfrm>
            <a:off x="88873" y="3694526"/>
            <a:ext cx="3112114" cy="365292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2507E1D-5084-4193-8D4A-F78FC342F1B0}"/>
              </a:ext>
            </a:extLst>
          </p:cNvPr>
          <p:cNvSpPr/>
          <p:nvPr/>
        </p:nvSpPr>
        <p:spPr>
          <a:xfrm>
            <a:off x="80023" y="5472335"/>
            <a:ext cx="3112114" cy="235634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7E26C8F-258E-4424-9A81-C983C0A7B5D7}"/>
              </a:ext>
            </a:extLst>
          </p:cNvPr>
          <p:cNvSpPr/>
          <p:nvPr/>
        </p:nvSpPr>
        <p:spPr>
          <a:xfrm>
            <a:off x="80023" y="4498150"/>
            <a:ext cx="3112114" cy="235634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C4C76D1-AB55-4275-898E-43EED047C892}"/>
              </a:ext>
            </a:extLst>
          </p:cNvPr>
          <p:cNvSpPr/>
          <p:nvPr/>
        </p:nvSpPr>
        <p:spPr>
          <a:xfrm>
            <a:off x="3387855" y="1923713"/>
            <a:ext cx="3112114" cy="235634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D5B463-49A3-4AE8-A578-63D0B164EE81}"/>
              </a:ext>
            </a:extLst>
          </p:cNvPr>
          <p:cNvSpPr txBox="1"/>
          <p:nvPr/>
        </p:nvSpPr>
        <p:spPr>
          <a:xfrm>
            <a:off x="6695688" y="526924"/>
            <a:ext cx="302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Pareto 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11C9CC-30B9-4C53-B30A-5C6237CE81DE}"/>
              </a:ext>
            </a:extLst>
          </p:cNvPr>
          <p:cNvSpPr/>
          <p:nvPr/>
        </p:nvSpPr>
        <p:spPr>
          <a:xfrm>
            <a:off x="7033846" y="1688123"/>
            <a:ext cx="3688694" cy="19729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657219A5-853A-4DA1-85E9-907F1F4386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061565"/>
              </p:ext>
            </p:extLst>
          </p:nvPr>
        </p:nvGraphicFramePr>
        <p:xfrm>
          <a:off x="6695688" y="921962"/>
          <a:ext cx="5275918" cy="27391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3F4B627A-37E8-4A6A-8CE1-8D32EE6E5DC2}"/>
              </a:ext>
            </a:extLst>
          </p:cNvPr>
          <p:cNvSpPr txBox="1"/>
          <p:nvPr/>
        </p:nvSpPr>
        <p:spPr>
          <a:xfrm>
            <a:off x="6819952" y="3760826"/>
            <a:ext cx="302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 err="1"/>
              <a:t>Fokus</a:t>
            </a:r>
            <a:r>
              <a:rPr lang="en-ID" b="1" dirty="0"/>
              <a:t> Problem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9796CC9-2B18-4EAA-A414-12B893F2F7C6}"/>
              </a:ext>
            </a:extLst>
          </p:cNvPr>
          <p:cNvSpPr/>
          <p:nvPr/>
        </p:nvSpPr>
        <p:spPr>
          <a:xfrm>
            <a:off x="7033846" y="4304714"/>
            <a:ext cx="4937760" cy="234930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000" b="1" dirty="0" err="1">
                <a:solidFill>
                  <a:schemeClr val="tx1"/>
                </a:solidFill>
              </a:rPr>
              <a:t>Fokus</a:t>
            </a:r>
            <a:r>
              <a:rPr lang="en-ID" sz="2000" b="1" dirty="0">
                <a:solidFill>
                  <a:schemeClr val="tx1"/>
                </a:solidFill>
              </a:rPr>
              <a:t> </a:t>
            </a:r>
            <a:r>
              <a:rPr lang="en-ID" sz="2000" b="1" dirty="0" err="1">
                <a:solidFill>
                  <a:schemeClr val="tx1"/>
                </a:solidFill>
              </a:rPr>
              <a:t>masalah</a:t>
            </a:r>
            <a:r>
              <a:rPr lang="en-ID" sz="2000" b="1" dirty="0">
                <a:solidFill>
                  <a:schemeClr val="tx1"/>
                </a:solidFill>
              </a:rPr>
              <a:t> yang </a:t>
            </a:r>
            <a:r>
              <a:rPr lang="en-ID" sz="2000" b="1" dirty="0" err="1">
                <a:solidFill>
                  <a:schemeClr val="tx1"/>
                </a:solidFill>
              </a:rPr>
              <a:t>akan</a:t>
            </a:r>
            <a:r>
              <a:rPr lang="en-ID" sz="2000" b="1" dirty="0">
                <a:solidFill>
                  <a:schemeClr val="tx1"/>
                </a:solidFill>
              </a:rPr>
              <a:t> </a:t>
            </a:r>
            <a:r>
              <a:rPr lang="en-ID" sz="2000" b="1" dirty="0" err="1">
                <a:solidFill>
                  <a:schemeClr val="tx1"/>
                </a:solidFill>
              </a:rPr>
              <a:t>diselesaikan</a:t>
            </a:r>
            <a:r>
              <a:rPr lang="en-ID" sz="2000" b="1" dirty="0">
                <a:solidFill>
                  <a:schemeClr val="tx1"/>
                </a:solidFill>
              </a:rPr>
              <a:t>  :</a:t>
            </a:r>
          </a:p>
          <a:p>
            <a:pPr marL="342900" indent="-342900">
              <a:buAutoNum type="arabicPeriod"/>
            </a:pPr>
            <a:r>
              <a:rPr lang="en-ID" dirty="0">
                <a:solidFill>
                  <a:schemeClr val="tx1"/>
                </a:solidFill>
              </a:rPr>
              <a:t>EM Contribution</a:t>
            </a:r>
          </a:p>
          <a:p>
            <a:pPr marL="342900" indent="-342900">
              <a:buAutoNum type="arabicPeriod"/>
            </a:pPr>
            <a:r>
              <a:rPr lang="en-ID" dirty="0">
                <a:solidFill>
                  <a:schemeClr val="tx1"/>
                </a:solidFill>
              </a:rPr>
              <a:t>Appointment Rate</a:t>
            </a:r>
          </a:p>
          <a:p>
            <a:pPr marL="342900" indent="-342900">
              <a:buAutoNum type="arabicPeriod"/>
            </a:pPr>
            <a:r>
              <a:rPr lang="en-ID" dirty="0">
                <a:solidFill>
                  <a:schemeClr val="tx1"/>
                </a:solidFill>
              </a:rPr>
              <a:t>Leadtime EM</a:t>
            </a:r>
          </a:p>
          <a:p>
            <a:pPr marL="342900" indent="-342900">
              <a:buAutoNum type="arabicPeriod"/>
            </a:pPr>
            <a:r>
              <a:rPr lang="en-ID" dirty="0">
                <a:solidFill>
                  <a:schemeClr val="tx1"/>
                </a:solidFill>
              </a:rPr>
              <a:t>TMO Share</a:t>
            </a:r>
          </a:p>
        </p:txBody>
      </p:sp>
    </p:spTree>
    <p:extLst>
      <p:ext uri="{BB962C8B-B14F-4D97-AF65-F5344CB8AC3E}">
        <p14:creationId xmlns:p14="http://schemas.microsoft.com/office/powerpoint/2010/main" val="2391387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334</Words>
  <Application>Microsoft Office PowerPoint</Application>
  <PresentationFormat>Widescreen</PresentationFormat>
  <Paragraphs>158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Chiller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Eka Wahana</dc:creator>
  <cp:lastModifiedBy>Eka Wahana</cp:lastModifiedBy>
  <cp:revision>25</cp:revision>
  <dcterms:created xsi:type="dcterms:W3CDTF">2020-11-23T02:53:47Z</dcterms:created>
  <dcterms:modified xsi:type="dcterms:W3CDTF">2020-11-27T03:58:09Z</dcterms:modified>
</cp:coreProperties>
</file>